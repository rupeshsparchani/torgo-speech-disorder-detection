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MARKET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Market-Ready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713232"/>
            <a:ext cx="9994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Production model packaging, LOSO evaluation, and FastAPI web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669280" cy="44805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Tasks Performed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M.1  Retrain SVM + RF on full dataset (no held-out test split)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M.2  Package bundle: scaler + SVM + RF + feature_names + thresholds -&gt; .joblib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M.3  LOSO evaluation: 15 speakers, train on 14, test on 1 (repeated 15x)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M.4  Build FastAPI + HTML/CSS/JS web app on port 8000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M.5  Universal audio loader: WAV, MP3, M4A, OGG, FLAC, AAC via FFmpeg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M.6  Clinical risk stratification: Low / Moderate / High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39242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M.7  Interactive dashboard: drag-and-drop upload + biomarker display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08760"/>
            <a:ext cx="5669280" cy="44805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Calibri"/>
              </a:rPr>
              <a:t>Outcomes /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Bundle saved: models/torgo_production_bundle.joblib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LOSO SVM weighted accuracy: ~91.2% on unseen speakers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LOSO RF weighted accuracy:  ~88.4% on unseen speakers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Web app live at http://localhost:8000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REST endpoint: POST /predict (multipart audio)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Formats supported: .wav .mp3 .m4a .ogg .flac .aac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39242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Inference latency: ~90-150ms per file on CPU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MARKET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Market-Ready: LOSO Speaker-Independent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LOSO (Leave-One-Speaker-Out) simulates real deployment: model trains on 14 speakers, tests on 1 unseen. Repeated 15 times.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38528"/>
            <a:ext cx="2743200" cy="356616"/>
          </a:xfrm>
          <a:prstGeom prst="rect">
            <a:avLst/>
          </a:prstGeom>
          <a:solidFill>
            <a:srgbClr val="00D2FF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938528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Speaker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938528"/>
            <a:ext cx="2560320" cy="356616"/>
          </a:xfrm>
          <a:prstGeom prst="rect">
            <a:avLst/>
          </a:prstGeom>
          <a:solidFill>
            <a:srgbClr val="00D2FF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938528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Ground Truth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938528"/>
            <a:ext cx="2286000" cy="356616"/>
          </a:xfrm>
          <a:prstGeom prst="rect">
            <a:avLst/>
          </a:prstGeom>
          <a:solidFill>
            <a:srgbClr val="00D2FF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938528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SVM Acc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938528"/>
            <a:ext cx="2286000" cy="356616"/>
          </a:xfrm>
          <a:prstGeom prst="rect">
            <a:avLst/>
          </a:prstGeom>
          <a:solidFill>
            <a:srgbClr val="00D2FF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38528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RF Acc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95144"/>
            <a:ext cx="27432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295144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FC01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295144"/>
            <a:ext cx="256032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295144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2FF"/>
                </a:solidFill>
                <a:latin typeface="Calibri"/>
              </a:rPr>
              <a:t>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295144"/>
            <a:ext cx="22860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295144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100.0%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295144"/>
            <a:ext cx="22860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295144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100.0%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51760"/>
            <a:ext cx="27432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651760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FC02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651760"/>
            <a:ext cx="256032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2651760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2FF"/>
                </a:solidFill>
                <a:latin typeface="Calibri"/>
              </a:rPr>
              <a:t>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651760"/>
            <a:ext cx="22860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2651760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99.8%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651760"/>
            <a:ext cx="22860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2651760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99.1%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008376"/>
            <a:ext cx="27432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008376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FC03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008376"/>
            <a:ext cx="256032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3008376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2FF"/>
                </a:solidFill>
                <a:latin typeface="Calibri"/>
              </a:rPr>
              <a:t>Control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008376"/>
            <a:ext cx="22860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008376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97.2%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008376"/>
            <a:ext cx="22860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008376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96.1%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364992"/>
            <a:ext cx="27432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364992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MC01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3364992"/>
            <a:ext cx="256032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0" y="3364992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2FF"/>
                </a:solidFill>
                <a:latin typeface="Calibri"/>
              </a:rPr>
              <a:t>Control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3364992"/>
            <a:ext cx="22860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3364992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99.9%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3364992"/>
            <a:ext cx="22860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3364992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99.4%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721608"/>
            <a:ext cx="27432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3721608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MC02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3721608"/>
            <a:ext cx="256032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0" y="3721608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2FF"/>
                </a:solidFill>
                <a:latin typeface="Calibri"/>
              </a:rPr>
              <a:t>Control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3721608"/>
            <a:ext cx="22860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0" y="3721608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99.7%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3721608"/>
            <a:ext cx="22860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3721608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99.2%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078224"/>
            <a:ext cx="27432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4078224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F01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4078224"/>
            <a:ext cx="256032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4078224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/>
              </a:rPr>
              <a:t>Dysarthric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4078224"/>
            <a:ext cx="22860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0" y="4078224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94.3%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4078224"/>
            <a:ext cx="22860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4078224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91.2%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434840"/>
            <a:ext cx="27432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4434840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F03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0" y="4434840"/>
            <a:ext cx="256032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0" y="4434840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/>
              </a:rPr>
              <a:t>Dysarthric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0" y="4434840"/>
            <a:ext cx="22860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0" y="4434840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89.7%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12480" y="4434840"/>
            <a:ext cx="22860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12480" y="4434840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87.4%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4791456"/>
            <a:ext cx="27432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4791456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F05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0" y="4791456"/>
            <a:ext cx="256032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0" y="4791456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/>
              </a:rPr>
              <a:t>Dysarthric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0" y="4791456"/>
            <a:ext cx="22860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43600" y="4791456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86.1%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12480" y="4791456"/>
            <a:ext cx="22860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4791456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83.5%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148072"/>
            <a:ext cx="27432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5148072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M01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0" y="5148072"/>
            <a:ext cx="256032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0400" y="5148072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/>
              </a:rPr>
              <a:t>Dysarthric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0" y="5148072"/>
            <a:ext cx="22860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0" y="5148072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88.4%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12480" y="5148072"/>
            <a:ext cx="22860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12480" y="5148072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85.3%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5504688"/>
            <a:ext cx="27432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4320" y="5504688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M02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5504688"/>
            <a:ext cx="256032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0" y="5504688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/>
              </a:rPr>
              <a:t>Dysarthric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943600" y="5504688"/>
            <a:ext cx="22860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43600" y="5504688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91.2%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12480" y="5504688"/>
            <a:ext cx="22860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412480" y="5504688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88.9%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5861304"/>
            <a:ext cx="27432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" y="5861304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M03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0" y="5861304"/>
            <a:ext cx="256032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0" y="5861304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/>
              </a:rPr>
              <a:t>Dysarthric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943600" y="5861304"/>
            <a:ext cx="22860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943600" y="5861304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82.6%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412480" y="5861304"/>
            <a:ext cx="2286000" cy="356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412480" y="5861304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79.1%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6217920"/>
            <a:ext cx="27432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4320" y="6217920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M04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0" y="6217920"/>
            <a:ext cx="256032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00400" y="6217920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/>
              </a:rPr>
              <a:t>Dysarthric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43600" y="6217920"/>
            <a:ext cx="22860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943600" y="6217920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87.3%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412480" y="6217920"/>
            <a:ext cx="2286000" cy="356616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412480" y="6217920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9FF14"/>
                </a:solidFill>
                <a:latin typeface="Calibri"/>
              </a:rPr>
              <a:t>84.7%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6574536"/>
            <a:ext cx="2743200" cy="356616"/>
          </a:xfrm>
          <a:prstGeom prst="rect">
            <a:avLst/>
          </a:prstGeom>
          <a:solidFill>
            <a:srgbClr val="104A2A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74320" y="6574536"/>
            <a:ext cx="27432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C4D8"/>
                </a:solidFill>
                <a:latin typeface="Calibri"/>
              </a:rPr>
              <a:t>Overall (weighted)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200400" y="6574536"/>
            <a:ext cx="2560320" cy="356616"/>
          </a:xfrm>
          <a:prstGeom prst="rect">
            <a:avLst/>
          </a:prstGeom>
          <a:solidFill>
            <a:srgbClr val="104A2A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200400" y="6574536"/>
            <a:ext cx="2560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2FF"/>
                </a:solidFill>
                <a:latin typeface="Calibri"/>
              </a:rPr>
              <a:t/>
            </a:r>
          </a:p>
        </p:txBody>
      </p:sp>
      <p:sp>
        <p:nvSpPr>
          <p:cNvPr id="116" name="Rectangle 115"/>
          <p:cNvSpPr/>
          <p:nvPr/>
        </p:nvSpPr>
        <p:spPr>
          <a:xfrm>
            <a:off x="5943600" y="6574536"/>
            <a:ext cx="2286000" cy="356616"/>
          </a:xfrm>
          <a:prstGeom prst="rect">
            <a:avLst/>
          </a:prstGeom>
          <a:solidFill>
            <a:srgbClr val="104A2A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943600" y="6574536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Calibri"/>
              </a:rPr>
              <a:t>91.2%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412480" y="6574536"/>
            <a:ext cx="2286000" cy="356616"/>
          </a:xfrm>
          <a:prstGeom prst="rect">
            <a:avLst/>
          </a:prstGeom>
          <a:solidFill>
            <a:srgbClr val="104A2A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412480" y="6574536"/>
            <a:ext cx="22860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Calibri"/>
              </a:rPr>
              <a:t>88.4%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MARKET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Market-Ready: FastAPI Web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669280" cy="48463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Web Application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Drag-and-drop or click-to-upload audio files (all formats)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Real-time inference: results in under 200ms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Diagnosis banner: CONTROL (green) or DYSARTHRIC (red)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Confidence percentage + clinical risk level (Low/Moderate/High)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Probability bars: Control vs Dysarthric percentages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4 acoustic biomarkers displayed: RMS, Spectral Contrast, MFCC-1, ZCR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39242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Audio metadata: duration, sample rate, model, inference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63931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Clinical recommendation text for patient referral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88620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REST API: POST /predict | GET /health | GET /biomarkers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13308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Swagger/OpenAPI docs at /docs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08760"/>
            <a:ext cx="5669280" cy="48463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alibri"/>
              </a:rPr>
              <a:t>Technology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Backend: Python FastAPI + Uvicorn ASGI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Frontend: Vanilla HTML5 + CSS3 + JavaScript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ML Inference: scikit-learn SVM via joblib bundle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Audio loading: librosa + imageio_ffmpeg (universal decoder)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File handling: Python tempfile (no disk residue)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Design: Dark theme, glassmorphism, cyan/red palette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39242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Deployment: Single command - python api.py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