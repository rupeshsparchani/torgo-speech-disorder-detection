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88952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34840"/>
            <a:ext cx="12188952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D2FF"/>
                </a:solidFill>
                <a:latin typeface="Calibri"/>
              </a:rPr>
              <a:t>TORGO Dysarthric Speech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0C4D8"/>
                </a:solidFill>
                <a:latin typeface="Calibri"/>
              </a:rPr>
              <a:t>Machine Learning Pipeline for Clinical Speech Pathology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14600"/>
            <a:ext cx="10360152" cy="178308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70048"/>
            <a:ext cx="9994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Internship Documentation  Phase-Wise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63240"/>
            <a:ext cx="9994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8"/>
                </a:solidFill>
                <a:latin typeface="Calibri"/>
              </a:rPr>
              <a:t>NIT Sikkim  |  Department of Electronics &amp; Communication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01568"/>
            <a:ext cx="9994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  <a:latin typeface="Calibri"/>
              </a:rPr>
              <a:t>Dataset: TORGO Corpus (University of Toronto)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49039"/>
            <a:ext cx="9994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D700"/>
                </a:solidFill>
                <a:latin typeface="Calibri"/>
              </a:rPr>
              <a:t>2024 - 2025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  <a:latin typeface="Calibri"/>
              </a:rPr>
              <a:t>NIT Sikkim  |  Internship Documentation  |  TORGO Speech Classification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2FF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548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Calibri"/>
              </a:rPr>
              <a:t>Why Automated Dysarthria Detection?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Dysarthria is a motor speech disorder affecting articulation, prosody, and voice quality, commonly associated with ALS, Cerebral Palsy, Parkinson's Disease, and Traumatic Brain Injury.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240280"/>
            <a:ext cx="3794760" cy="356616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2350008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  <a:latin typeface="Calibri"/>
              </a:rPr>
              <a:t>Clinical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642616"/>
            <a:ext cx="3611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Manual assessments are time-consuming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889504"/>
            <a:ext cx="3611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Require certified speech-language pathologists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136392"/>
            <a:ext cx="3611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High inter-rater variability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383280"/>
            <a:ext cx="3611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Not scalable to remote areas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2240280"/>
            <a:ext cx="3794760" cy="356616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5968" y="2350008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2FF"/>
                </a:solidFill>
                <a:latin typeface="Calibri"/>
              </a:rPr>
              <a:t>Proposed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2642616"/>
            <a:ext cx="3611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Automated ML pipeline on TORGO corpus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2889504"/>
            <a:ext cx="3611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126 acoustic features extracted per utterance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3136392"/>
            <a:ext cx="3611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SVM + Random Forest classifiers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3383280"/>
            <a:ext cx="3611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FastAPI web app for live inference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240280"/>
            <a:ext cx="3794760" cy="356616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2350008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FF14"/>
                </a:solidFill>
                <a:latin typeface="Calibri"/>
              </a:rPr>
              <a:t>Expected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642616"/>
            <a:ext cx="3611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Objective, reproducible scoring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889504"/>
            <a:ext cx="3611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99%+ accuracy on seen-speaker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3136392"/>
            <a:ext cx="3611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Speaker-independent generalization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383280"/>
            <a:ext cx="3611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Clinical screening tool deployment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  <a:latin typeface="Calibri"/>
              </a:rPr>
              <a:t>NIT Sikkim  |  Internship Documentation  |  TORGO Speech Classification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2FF"/>
                </a:solidFill>
                <a:latin typeface="Calibri"/>
              </a:rPr>
              <a:t>Project Pipeline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548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Calibri"/>
              </a:rPr>
              <a:t>End-to-end ML workflow from raw audio to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920240"/>
            <a:ext cx="1737360" cy="146304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99339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2FF"/>
                </a:solidFill>
                <a:latin typeface="Calibri"/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3774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Data
Loading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2860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D2FF"/>
                </a:solidFill>
                <a:latin typeface="Calibri"/>
              </a:rPr>
              <a:t>-&gt;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40279" y="1920240"/>
            <a:ext cx="1737360" cy="14630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40279" y="199339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700"/>
                </a:solidFill>
                <a:latin typeface="Calibri"/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79" y="23774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Feature
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22860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D2FF"/>
                </a:solidFill>
                <a:latin typeface="Calibri"/>
              </a:rPr>
              <a:t>-&gt;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920240"/>
            <a:ext cx="1737360" cy="14630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199339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B6B"/>
                </a:solidFill>
                <a:latin typeface="Calibri"/>
              </a:rPr>
              <a:t>Phase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3774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Prepro-
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2860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D2FF"/>
                </a:solidFill>
                <a:latin typeface="Calibri"/>
              </a:rPr>
              <a:t>-&gt;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199" y="1920240"/>
            <a:ext cx="1737360" cy="1463040"/>
          </a:xfrm>
          <a:prstGeom prst="rect">
            <a:avLst/>
          </a:prstGeom>
          <a:solidFill>
            <a:srgbClr val="16213E"/>
          </a:solidFill>
          <a:ln w="12700">
            <a:solidFill>
              <a:srgbClr val="A0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199" y="199339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07CFF"/>
                </a:solidFill>
                <a:latin typeface="Calibri"/>
              </a:rPr>
              <a:t>Phase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199" y="23774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Model
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59" y="22860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D2FF"/>
                </a:solidFill>
                <a:latin typeface="Calibri"/>
              </a:rPr>
              <a:t>-&gt;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920240"/>
            <a:ext cx="1737360" cy="1463040"/>
          </a:xfrm>
          <a:prstGeom prst="rect">
            <a:avLst/>
          </a:prstGeom>
          <a:solidFill>
            <a:srgbClr val="16213E"/>
          </a:solidFill>
          <a:ln w="127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199339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9FF14"/>
                </a:solidFill>
                <a:latin typeface="Calibri"/>
              </a:rPr>
              <a:t>Phase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3774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Evaluation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22860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D2FF"/>
                </a:solidFill>
                <a:latin typeface="Calibri"/>
              </a:rPr>
              <a:t>-&gt;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04120" y="1920240"/>
            <a:ext cx="1737360" cy="14630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04120" y="199339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8C00"/>
                </a:solidFill>
                <a:latin typeface="Calibri"/>
              </a:rPr>
              <a:t>Phase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20" y="23774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Visuali-
zation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657600"/>
            <a:ext cx="3749039" cy="146304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794760"/>
            <a:ext cx="37490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2FF"/>
                </a:solidFill>
                <a:latin typeface="Calibri"/>
              </a:rPr>
              <a:t>Market-Ready
Model Training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3657600"/>
            <a:ext cx="3749039" cy="1463040"/>
          </a:xfrm>
          <a:prstGeom prst="rect">
            <a:avLst/>
          </a:prstGeom>
          <a:solidFill>
            <a:srgbClr val="16213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0" y="3794760"/>
            <a:ext cx="37490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700"/>
                </a:solidFill>
                <a:latin typeface="Calibri"/>
              </a:rPr>
              <a:t>LOSO Speaker-
Independent Eval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3657600"/>
            <a:ext cx="3794760" cy="1463040"/>
          </a:xfrm>
          <a:prstGeom prst="rect">
            <a:avLst/>
          </a:prstGeom>
          <a:solidFill>
            <a:srgbClr val="16213E"/>
          </a:solidFill>
          <a:ln w="127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0" y="3794760"/>
            <a:ext cx="3794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9FF14"/>
                </a:solidFill>
                <a:latin typeface="Calibri"/>
              </a:rPr>
              <a:t>FastAPI Web
Application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  <a:latin typeface="Calibri"/>
              </a:rPr>
              <a:t>NIT Sikkim  |  Internship Documentation  |  TORGO Speech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2FF"/>
                </a:solidFill>
                <a:latin typeface="Calibri"/>
              </a:rPr>
              <a:t>TORGO 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548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Calibri"/>
              </a:rPr>
              <a:t>University of Toronto Dysarthric Speech Corpus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5669280" cy="338328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61848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2FF"/>
                </a:solidFill>
                <a:latin typeface="Calibri"/>
              </a:rPr>
              <a:t>Dataset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91109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7 Dysarthric speakers: M01, M02, M03, M04, F01, F03, F05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157984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7 Control speakers: MC01-MC04, FC01-FC03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404872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Sentences from the MOCHA-TIMIT prompt 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65176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Two microphones: arrayMic (far-field) + headMic (close-talk)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898648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Sampling rate: 16,000 Hz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14553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Total recordings used (arrayMic only): 9,410 utterances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508760"/>
            <a:ext cx="132588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58191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Calibri"/>
              </a:rPr>
              <a:t>Utterances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837944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700"/>
                </a:solidFill>
                <a:latin typeface="Calibri"/>
              </a:rPr>
              <a:t>9,410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1508760"/>
            <a:ext cx="132588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158191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Calibri"/>
              </a:rPr>
              <a:t>Acoustic
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1837944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700"/>
                </a:solidFill>
                <a:latin typeface="Calibri"/>
              </a:rPr>
              <a:t>126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508760"/>
            <a:ext cx="132588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58191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Calibri"/>
              </a:rPr>
              <a:t>Sample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837944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700"/>
                </a:solidFill>
                <a:latin typeface="Calibri"/>
              </a:rPr>
              <a:t>16 kHz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07040" y="1508760"/>
            <a:ext cx="132588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0" y="158191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Calibri"/>
              </a:rPr>
              <a:t>Speakers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1837944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700"/>
                </a:solidFill>
                <a:latin typeface="Calibri"/>
              </a:rPr>
              <a:t>14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423160"/>
            <a:ext cx="5669280" cy="246888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253288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  <a:latin typeface="Calibri"/>
              </a:rPr>
              <a:t>Category Labels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282549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F_Con: Female Control (healthy)  Label = 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3072384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F_Dys: Female Dysarthric          Label =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3319272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M_Con: Male Control (healthy)    Label = 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356616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M_Dys: Male Dysarthric             Label = 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  <a:latin typeface="Calibri"/>
              </a:rPr>
              <a:t>NIT Sikkim  |  Internship Documentation  |  TORGO Speech Classification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