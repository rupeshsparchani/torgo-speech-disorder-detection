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4: Model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713232"/>
            <a:ext cx="9994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0C4D8"/>
                </a:solidFill>
                <a:latin typeface="Calibri"/>
              </a:rPr>
              <a:t>SVM and Random Forest classifiers with 5-fold cross-validation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08760"/>
            <a:ext cx="566928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Tasks Performed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4.1  Train SVM: RBF kernel, C=1.0, gamma='scale', class_weight='balanced', probability=True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4.2  Train Random Forest: 100 estimators, class_weight='balanced', n_jobs=-1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4.3  5-fold Stratified Cross-Validation on both models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4.4  Record and compare training times for both models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4.5  Return model objects and CV scores for Phase 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508760"/>
            <a:ext cx="5669280" cy="36576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9FF14"/>
                </a:solidFill>
                <a:latin typeface="Calibri"/>
              </a:rPr>
              <a:t>Outcomes /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trained in ~8-12 seconds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Random Forest trained in ~4-6 seconds (parallel: n_jobs=-1)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CV Accuracy: 99.40% +/- 0.06% (5-fold mean +/- std)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RF  CV Accuracy: 98.86% +/- 0.08%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Both produce calibrated probabilities via predict_proba()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SVM selected as primary production model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4: SVM vs Random Forest Architecture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508760"/>
            <a:ext cx="566928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SVM (RBF Kernel)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Kernel: RBF (Radial Basis Function)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Regularization parameter C = 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Gamma = 'scale' (1 / n_features x var(X))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class_weight = 'balanced' (handles 2:1 imbalance)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probability = True (Platt scaling for probabilities)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Maximizes margin between Control and Dysarthric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Best suited for high-dimensional acoustic feature spaces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508760"/>
            <a:ext cx="5669280" cy="4114800"/>
          </a:xfrm>
          <a:prstGeom prst="rect">
            <a:avLst/>
          </a:prstGeom>
          <a:solidFill>
            <a:srgbClr val="16213E"/>
          </a:solidFill>
          <a:ln w="127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161848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2FF"/>
                </a:solidFill>
                <a:latin typeface="Calibri"/>
              </a:rPr>
              <a:t>Random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191109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100 decision trees (n_estimators=100)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27648" y="215798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Max depth: unlimited (fully grown trees)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7648" y="2404872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class_weight = 'balanced'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27648" y="2651760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n_jobs = -1 (all CPU cores used)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2898648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Provides Gini-based feature importances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27648" y="3145536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Ensemble voting reduces overfitting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27648" y="3392424"/>
            <a:ext cx="5486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  -&gt;  More robust to noisy/correlated 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5806440"/>
            <a:ext cx="1164031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SVM selected as primary production model: superior CV accuracy (99.40% vs 98.86%) and lower variance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258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80160"/>
            <a:ext cx="12188952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64592"/>
            <a:ext cx="1463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D1B2A"/>
                </a:solidFill>
                <a:latin typeface="Calibri"/>
              </a:rPr>
              <a:t>PHASE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0240" y="109728"/>
            <a:ext cx="999439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0D2FF"/>
                </a:solidFill>
                <a:latin typeface="Calibri"/>
              </a:rPr>
              <a:t>Phase 4: 5-Fold Stratified Cross-Validation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45743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StratifiedKFold ensures each fold maintains the 66%/34% class ratio. Results below show accuracy on the held-out fold at each iteration.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94560"/>
            <a:ext cx="22860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2FF"/>
                </a:solidFill>
                <a:latin typeface="Calibri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2194560"/>
            <a:ext cx="2743200" cy="411480"/>
          </a:xfrm>
          <a:prstGeom prst="rect">
            <a:avLst/>
          </a:prstGeom>
          <a:solidFill>
            <a:srgbClr val="00D2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SVM 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0" y="2194560"/>
            <a:ext cx="2743200" cy="411480"/>
          </a:xfrm>
          <a:prstGeom prst="rect">
            <a:avLst/>
          </a:prstGeom>
          <a:solidFill>
            <a:srgbClr val="00D2FF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2194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  <a:latin typeface="Calibri"/>
              </a:rPr>
              <a:t>RF Accuracy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71600" y="2606040"/>
            <a:ext cx="22860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2606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Fold 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606040"/>
            <a:ext cx="27432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99.44%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66560" y="2606040"/>
            <a:ext cx="27432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6060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98.87%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371600" y="3017520"/>
            <a:ext cx="22860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30175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Fold 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017520"/>
            <a:ext cx="27432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99.31%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0" y="3017520"/>
            <a:ext cx="27432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0175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98.82%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3429000"/>
            <a:ext cx="22860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71600" y="34290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Fold 3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3429000"/>
            <a:ext cx="27432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0" y="3429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99.47%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66560" y="3429000"/>
            <a:ext cx="27432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429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98.72%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371600" y="3840480"/>
            <a:ext cx="22860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71600" y="3840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Fold 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3840480"/>
            <a:ext cx="27432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40480" y="3840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99.35%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66560" y="3840480"/>
            <a:ext cx="27432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3840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98.93%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371600" y="4251960"/>
            <a:ext cx="22860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71600" y="42519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C4D8"/>
                </a:solidFill>
                <a:latin typeface="Calibri"/>
              </a:rPr>
              <a:t>Fold 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840480" y="4251960"/>
            <a:ext cx="27432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84048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99.43%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66560" y="4251960"/>
            <a:ext cx="27432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0" y="42519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39FF14"/>
                </a:solidFill>
                <a:latin typeface="Calibri"/>
              </a:rPr>
              <a:t>98.94%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71600" y="4663440"/>
            <a:ext cx="22860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46634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MEAN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40480" y="4663440"/>
            <a:ext cx="27432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4048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99.40%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66560" y="4663440"/>
            <a:ext cx="2743200" cy="411480"/>
          </a:xfrm>
          <a:prstGeom prst="rect">
            <a:avLst/>
          </a:prstGeom>
          <a:solidFill>
            <a:srgbClr val="1C2D50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466344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98.86%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371600" y="5074920"/>
            <a:ext cx="22860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71600" y="5074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STD DEV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840480" y="5074920"/>
            <a:ext cx="27432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84048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0.06%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66560" y="5074920"/>
            <a:ext cx="2743200" cy="411480"/>
          </a:xfrm>
          <a:prstGeom prst="rect">
            <a:avLst/>
          </a:prstGeom>
          <a:solidFill>
            <a:srgbClr val="16213E"/>
          </a:solidFill>
          <a:ln w="12700">
            <a:solidFill>
              <a:srgbClr val="0D1B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66560" y="50749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D700"/>
                </a:solidFill>
                <a:latin typeface="Calibri"/>
              </a:rPr>
              <a:t>0.08%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74320" y="6583680"/>
            <a:ext cx="1164031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C4D8"/>
                </a:solidFill>
                <a:latin typeface="Calibri"/>
              </a:rPr>
              <a:t>NIT Sikkim  |  Internship Documentation  |  TORGO Speech Classification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