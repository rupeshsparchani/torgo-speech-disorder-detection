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64592"/>
            <a:ext cx="1463040" cy="5029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Calibri"/>
              </a:rPr>
              <a:t>PHASE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09728"/>
            <a:ext cx="99943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2FF"/>
                </a:solidFill>
                <a:latin typeface="Calibri"/>
              </a:rPr>
              <a:t>Phase 5: Model Evaluation &amp;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713232"/>
            <a:ext cx="99943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  <a:latin typeface="Calibri"/>
              </a:rPr>
              <a:t>Classification reports, confusion matrices, ROC-AUC, feature importances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08760"/>
            <a:ext cx="5669280" cy="4114800"/>
          </a:xfrm>
          <a:prstGeom prst="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61848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2FF"/>
                </a:solidFill>
                <a:latin typeface="Calibri"/>
              </a:rPr>
              <a:t>Tasks Performed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911096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5.1  Classification report: Precision, Recall, F1 per class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157984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5.2  Confusion matrices: TP, TN, FP, FN for both 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404872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5.3  ROC-AUC scores: area under the ROC curve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651760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5.4  Head-to-head comparison: Accuracy, F1, AUC, CV Acc, Train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898648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5.5  Top 20 feature importances from Random Forest (Gini impurity)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508760"/>
            <a:ext cx="5669280" cy="4114800"/>
          </a:xfrm>
          <a:prstGeom prst="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161848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9FF14"/>
                </a:solidFill>
                <a:latin typeface="Calibri"/>
              </a:rPr>
              <a:t>Outcomes / Results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1911096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SVM Test Accuracy: 99.31%  |  RF Test Accuracy: 98.72%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2157984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SVM F1 (weighted): 0.9931  |  RF F1 (weighted): 0.9872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2404872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SVM ROC-AUC: 0.9998         |  RF ROC-AUC: 0.9993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651760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SVM: only 6 False Positives + 7 False Negatives on 1,882 samples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2898648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Top feature: rms_std 12.1% importance - vocal energy variability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3145536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SVM chosen as primary production model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8"/>
                </a:solidFill>
                <a:latin typeface="Calibri"/>
              </a:rPr>
              <a:t>NIT Sikkim  |  Internship Documentation  |  TORGO Speech Classification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64592"/>
            <a:ext cx="1463040" cy="5029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Calibri"/>
              </a:rPr>
              <a:t>PHASE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09728"/>
            <a:ext cx="99943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2FF"/>
                </a:solidFill>
                <a:latin typeface="Calibri"/>
              </a:rPr>
              <a:t>Phase 5: Performance Comparison Table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3200400" cy="438912"/>
          </a:xfrm>
          <a:prstGeom prst="rect">
            <a:avLst/>
          </a:prstGeom>
          <a:solidFill>
            <a:srgbClr val="16213E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6304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2FF"/>
                </a:solidFill>
                <a:latin typeface="Calibri"/>
              </a:rPr>
              <a:t>Metric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1463040"/>
            <a:ext cx="2560320" cy="438912"/>
          </a:xfrm>
          <a:prstGeom prst="rect">
            <a:avLst/>
          </a:prstGeom>
          <a:solidFill>
            <a:srgbClr val="16213E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463040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6B6B"/>
                </a:solidFill>
                <a:latin typeface="Calibri"/>
              </a:rPr>
              <a:t>SVM (RBF)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463040"/>
            <a:ext cx="2560320" cy="438912"/>
          </a:xfrm>
          <a:prstGeom prst="rect">
            <a:avLst/>
          </a:prstGeom>
          <a:solidFill>
            <a:srgbClr val="16213E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63040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2FF"/>
                </a:solidFill>
                <a:latin typeface="Calibri"/>
              </a:rPr>
              <a:t>Random Forest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0" y="1463040"/>
            <a:ext cx="1828800" cy="438912"/>
          </a:xfrm>
          <a:prstGeom prst="rect">
            <a:avLst/>
          </a:prstGeom>
          <a:solidFill>
            <a:srgbClr val="16213E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1463040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700"/>
                </a:solidFill>
                <a:latin typeface="Calibri"/>
              </a:rPr>
              <a:t>Winner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901952"/>
            <a:ext cx="3200400" cy="438912"/>
          </a:xfrm>
          <a:prstGeom prst="rect">
            <a:avLst/>
          </a:prstGeom>
          <a:solidFill>
            <a:srgbClr val="16213E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901952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Test Accuracy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1901952"/>
            <a:ext cx="2560320" cy="438912"/>
          </a:xfrm>
          <a:prstGeom prst="rect">
            <a:avLst/>
          </a:prstGeom>
          <a:solidFill>
            <a:srgbClr val="16213E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1901952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  <a:latin typeface="Calibri"/>
              </a:rPr>
              <a:t>99.31%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901952"/>
            <a:ext cx="2560320" cy="438912"/>
          </a:xfrm>
          <a:prstGeom prst="rect">
            <a:avLst/>
          </a:prstGeom>
          <a:solidFill>
            <a:srgbClr val="16213E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901952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  <a:latin typeface="Calibri"/>
              </a:rPr>
              <a:t>98.72%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901952"/>
            <a:ext cx="1828800" cy="438912"/>
          </a:xfrm>
          <a:prstGeom prst="rect">
            <a:avLst/>
          </a:prstGeom>
          <a:solidFill>
            <a:srgbClr val="16213E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901952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9FF14"/>
                </a:solidFill>
                <a:latin typeface="Calibri"/>
              </a:rPr>
              <a:t>SVM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340864"/>
            <a:ext cx="3200400" cy="438912"/>
          </a:xfrm>
          <a:prstGeom prst="rect">
            <a:avLst/>
          </a:prstGeom>
          <a:solidFill>
            <a:srgbClr val="1C2D50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2340864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F1 Score (weighted)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2340864"/>
            <a:ext cx="2560320" cy="438912"/>
          </a:xfrm>
          <a:prstGeom prst="rect">
            <a:avLst/>
          </a:prstGeom>
          <a:solidFill>
            <a:srgbClr val="1C2D50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2340864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  <a:latin typeface="Calibri"/>
              </a:rPr>
              <a:t>0.9931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2340864"/>
            <a:ext cx="2560320" cy="438912"/>
          </a:xfrm>
          <a:prstGeom prst="rect">
            <a:avLst/>
          </a:prstGeom>
          <a:solidFill>
            <a:srgbClr val="1C2D50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340864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  <a:latin typeface="Calibri"/>
              </a:rPr>
              <a:t>0.9872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0" y="2340864"/>
            <a:ext cx="1828800" cy="438912"/>
          </a:xfrm>
          <a:prstGeom prst="rect">
            <a:avLst/>
          </a:prstGeom>
          <a:solidFill>
            <a:srgbClr val="1C2D50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0" y="2340864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9FF14"/>
                </a:solidFill>
                <a:latin typeface="Calibri"/>
              </a:rPr>
              <a:t>SVM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779776"/>
            <a:ext cx="3200400" cy="438912"/>
          </a:xfrm>
          <a:prstGeom prst="rect">
            <a:avLst/>
          </a:prstGeom>
          <a:solidFill>
            <a:srgbClr val="16213E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2779776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ROC-AUC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0" y="2779776"/>
            <a:ext cx="2560320" cy="438912"/>
          </a:xfrm>
          <a:prstGeom prst="rect">
            <a:avLst/>
          </a:prstGeom>
          <a:solidFill>
            <a:srgbClr val="16213E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0" y="2779776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  <a:latin typeface="Calibri"/>
              </a:rPr>
              <a:t>0.9998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2779776"/>
            <a:ext cx="2560320" cy="438912"/>
          </a:xfrm>
          <a:prstGeom prst="rect">
            <a:avLst/>
          </a:prstGeom>
          <a:solidFill>
            <a:srgbClr val="16213E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2779776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  <a:latin typeface="Calibri"/>
              </a:rPr>
              <a:t>0.9993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2779776"/>
            <a:ext cx="1828800" cy="438912"/>
          </a:xfrm>
          <a:prstGeom prst="rect">
            <a:avLst/>
          </a:prstGeom>
          <a:solidFill>
            <a:srgbClr val="16213E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2779776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9FF14"/>
                </a:solidFill>
                <a:latin typeface="Calibri"/>
              </a:rPr>
              <a:t>SVM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3218688"/>
            <a:ext cx="3200400" cy="438912"/>
          </a:xfrm>
          <a:prstGeom prst="rect">
            <a:avLst/>
          </a:prstGeom>
          <a:solidFill>
            <a:srgbClr val="1C2D50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3218688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CV Accuracy (5-fold)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0" y="3218688"/>
            <a:ext cx="2560320" cy="438912"/>
          </a:xfrm>
          <a:prstGeom prst="rect">
            <a:avLst/>
          </a:prstGeom>
          <a:solidFill>
            <a:srgbClr val="1C2D50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0" y="321868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  <a:latin typeface="Calibri"/>
              </a:rPr>
              <a:t>99.40%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3218688"/>
            <a:ext cx="2560320" cy="438912"/>
          </a:xfrm>
          <a:prstGeom prst="rect">
            <a:avLst/>
          </a:prstGeom>
          <a:solidFill>
            <a:srgbClr val="1C2D50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321868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  <a:latin typeface="Calibri"/>
              </a:rPr>
              <a:t>98.86%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00" y="3218688"/>
            <a:ext cx="1828800" cy="438912"/>
          </a:xfrm>
          <a:prstGeom prst="rect">
            <a:avLst/>
          </a:prstGeom>
          <a:solidFill>
            <a:srgbClr val="1C2D50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0" y="3218688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9FF14"/>
                </a:solidFill>
                <a:latin typeface="Calibri"/>
              </a:rPr>
              <a:t>SVM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3657600"/>
            <a:ext cx="3200400" cy="438912"/>
          </a:xfrm>
          <a:prstGeom prst="rect">
            <a:avLst/>
          </a:prstGeom>
          <a:solidFill>
            <a:srgbClr val="16213E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365760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Precision (Control)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0" y="3657600"/>
            <a:ext cx="2560320" cy="438912"/>
          </a:xfrm>
          <a:prstGeom prst="rect">
            <a:avLst/>
          </a:prstGeom>
          <a:solidFill>
            <a:srgbClr val="16213E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0" y="3657600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  <a:latin typeface="Calibri"/>
              </a:rPr>
              <a:t>99.52%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3657600"/>
            <a:ext cx="2560320" cy="438912"/>
          </a:xfrm>
          <a:prstGeom prst="rect">
            <a:avLst/>
          </a:prstGeom>
          <a:solidFill>
            <a:srgbClr val="16213E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0" y="3657600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  <a:latin typeface="Calibri"/>
              </a:rPr>
              <a:t>99.12%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0" y="3657600"/>
            <a:ext cx="1828800" cy="438912"/>
          </a:xfrm>
          <a:prstGeom prst="rect">
            <a:avLst/>
          </a:prstGeom>
          <a:solidFill>
            <a:srgbClr val="16213E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44000" y="3657600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9FF14"/>
                </a:solidFill>
                <a:latin typeface="Calibri"/>
              </a:rPr>
              <a:t>SVM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4096512"/>
            <a:ext cx="3200400" cy="438912"/>
          </a:xfrm>
          <a:prstGeom prst="rect">
            <a:avLst/>
          </a:prstGeom>
          <a:solidFill>
            <a:srgbClr val="1C2D50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4320" y="4096512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Recall (Control)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0" y="4096512"/>
            <a:ext cx="2560320" cy="438912"/>
          </a:xfrm>
          <a:prstGeom prst="rect">
            <a:avLst/>
          </a:prstGeom>
          <a:solidFill>
            <a:srgbClr val="1C2D50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57600" y="4096512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  <a:latin typeface="Calibri"/>
              </a:rPr>
              <a:t>99.52%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0" y="4096512"/>
            <a:ext cx="2560320" cy="438912"/>
          </a:xfrm>
          <a:prstGeom prst="rect">
            <a:avLst/>
          </a:prstGeom>
          <a:solidFill>
            <a:srgbClr val="1C2D50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0800" y="4096512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  <a:latin typeface="Calibri"/>
              </a:rPr>
              <a:t>98.72%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44000" y="4096512"/>
            <a:ext cx="1828800" cy="438912"/>
          </a:xfrm>
          <a:prstGeom prst="rect">
            <a:avLst/>
          </a:prstGeom>
          <a:solidFill>
            <a:srgbClr val="1C2D50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44000" y="4096512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9FF14"/>
                </a:solidFill>
                <a:latin typeface="Calibri"/>
              </a:rPr>
              <a:t>SVM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4535424"/>
            <a:ext cx="3200400" cy="438912"/>
          </a:xfrm>
          <a:prstGeom prst="rect">
            <a:avLst/>
          </a:prstGeom>
          <a:solidFill>
            <a:srgbClr val="16213E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74320" y="4535424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Precision (Dys)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0" y="4535424"/>
            <a:ext cx="2560320" cy="438912"/>
          </a:xfrm>
          <a:prstGeom prst="rect">
            <a:avLst/>
          </a:prstGeom>
          <a:solidFill>
            <a:srgbClr val="16213E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600" y="4535424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  <a:latin typeface="Calibri"/>
              </a:rPr>
              <a:t>98.95%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00800" y="4535424"/>
            <a:ext cx="2560320" cy="438912"/>
          </a:xfrm>
          <a:prstGeom prst="rect">
            <a:avLst/>
          </a:prstGeom>
          <a:solidFill>
            <a:srgbClr val="16213E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00800" y="4535424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  <a:latin typeface="Calibri"/>
              </a:rPr>
              <a:t>98.00%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144000" y="4535424"/>
            <a:ext cx="1828800" cy="438912"/>
          </a:xfrm>
          <a:prstGeom prst="rect">
            <a:avLst/>
          </a:prstGeom>
          <a:solidFill>
            <a:srgbClr val="16213E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144000" y="4535424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9FF14"/>
                </a:solidFill>
                <a:latin typeface="Calibri"/>
              </a:rPr>
              <a:t>SVM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4974336"/>
            <a:ext cx="3200400" cy="438912"/>
          </a:xfrm>
          <a:prstGeom prst="rect">
            <a:avLst/>
          </a:prstGeom>
          <a:solidFill>
            <a:srgbClr val="1C2D50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74320" y="4974336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Recall (Dysarthric)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57600" y="4974336"/>
            <a:ext cx="2560320" cy="438912"/>
          </a:xfrm>
          <a:prstGeom prst="rect">
            <a:avLst/>
          </a:prstGeom>
          <a:solidFill>
            <a:srgbClr val="1C2D50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657600" y="4974336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  <a:latin typeface="Calibri"/>
              </a:rPr>
              <a:t>98.90%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00800" y="4974336"/>
            <a:ext cx="2560320" cy="438912"/>
          </a:xfrm>
          <a:prstGeom prst="rect">
            <a:avLst/>
          </a:prstGeom>
          <a:solidFill>
            <a:srgbClr val="1C2D50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00800" y="4974336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  <a:latin typeface="Calibri"/>
              </a:rPr>
              <a:t>98.59%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144000" y="4974336"/>
            <a:ext cx="1828800" cy="438912"/>
          </a:xfrm>
          <a:prstGeom prst="rect">
            <a:avLst/>
          </a:prstGeom>
          <a:solidFill>
            <a:srgbClr val="1C2D50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144000" y="4974336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9FF14"/>
                </a:solidFill>
                <a:latin typeface="Calibri"/>
              </a:rPr>
              <a:t>SVM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4320" y="5413248"/>
            <a:ext cx="3200400" cy="438912"/>
          </a:xfrm>
          <a:prstGeom prst="rect">
            <a:avLst/>
          </a:prstGeom>
          <a:solidFill>
            <a:srgbClr val="16213E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74320" y="5413248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Training Time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657600" y="5413248"/>
            <a:ext cx="2560320" cy="438912"/>
          </a:xfrm>
          <a:prstGeom prst="rect">
            <a:avLst/>
          </a:prstGeom>
          <a:solidFill>
            <a:srgbClr val="16213E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657600" y="541324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  <a:latin typeface="Calibri"/>
              </a:rPr>
              <a:t>~10s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400800" y="5413248"/>
            <a:ext cx="2560320" cy="438912"/>
          </a:xfrm>
          <a:prstGeom prst="rect">
            <a:avLst/>
          </a:prstGeom>
          <a:solidFill>
            <a:srgbClr val="16213E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400800" y="541324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  <a:latin typeface="Calibri"/>
              </a:rPr>
              <a:t>~5s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144000" y="5413248"/>
            <a:ext cx="1828800" cy="438912"/>
          </a:xfrm>
          <a:prstGeom prst="rect">
            <a:avLst/>
          </a:prstGeom>
          <a:solidFill>
            <a:srgbClr val="16213E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144000" y="5413248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700"/>
                </a:solidFill>
                <a:latin typeface="Calibri"/>
              </a:rPr>
              <a:t>RF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8"/>
                </a:solidFill>
                <a:latin typeface="Calibri"/>
              </a:rPr>
              <a:t>NIT Sikkim  |  Internship Documentation  |  TORGO Speech Classification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64592"/>
            <a:ext cx="1463040" cy="5029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Calibri"/>
              </a:rPr>
              <a:t>PHASE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09728"/>
            <a:ext cx="99943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2FF"/>
                </a:solidFill>
                <a:latin typeface="Calibri"/>
              </a:rPr>
              <a:t>Phase 5: Confusion Matrix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D2FF"/>
                </a:solidFill>
                <a:latin typeface="Calibri"/>
              </a:rPr>
              <a:t>SVM (RBF)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2651760" cy="1325880"/>
          </a:xfrm>
          <a:prstGeom prst="rect">
            <a:avLst/>
          </a:prstGeom>
          <a:solidFill>
            <a:srgbClr val="006030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1945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TN = 1240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783080"/>
            <a:ext cx="2651760" cy="1325880"/>
          </a:xfrm>
          <a:prstGeom prst="rect">
            <a:avLst/>
          </a:prstGeom>
          <a:solidFill>
            <a:srgbClr val="701010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21945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FP = 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46120"/>
            <a:ext cx="2651760" cy="1325880"/>
          </a:xfrm>
          <a:prstGeom prst="rect">
            <a:avLst/>
          </a:prstGeom>
          <a:solidFill>
            <a:srgbClr val="701010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6576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FN = 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3246120"/>
            <a:ext cx="2651760" cy="1325880"/>
          </a:xfrm>
          <a:prstGeom prst="rect">
            <a:avLst/>
          </a:prstGeom>
          <a:solidFill>
            <a:srgbClr val="006030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36576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TP = 629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41732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D2FF"/>
                </a:solidFill>
                <a:latin typeface="Calibri"/>
              </a:rPr>
              <a:t>Random Forest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783080"/>
            <a:ext cx="2651760" cy="1325880"/>
          </a:xfrm>
          <a:prstGeom prst="rect">
            <a:avLst/>
          </a:prstGeom>
          <a:solidFill>
            <a:srgbClr val="006030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1945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TN = 1231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1783080"/>
            <a:ext cx="2651760" cy="1325880"/>
          </a:xfrm>
          <a:prstGeom prst="rect">
            <a:avLst/>
          </a:prstGeom>
          <a:solidFill>
            <a:srgbClr val="701010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21945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FP = 15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2651760" cy="1325880"/>
          </a:xfrm>
          <a:prstGeom prst="rect">
            <a:avLst/>
          </a:prstGeom>
          <a:solidFill>
            <a:srgbClr val="701010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6576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FN = 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0" y="3246120"/>
            <a:ext cx="2651760" cy="1325880"/>
          </a:xfrm>
          <a:prstGeom prst="rect">
            <a:avLst/>
          </a:prstGeom>
          <a:solidFill>
            <a:srgbClr val="006030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36576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TP = 627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475488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9FF14"/>
                </a:solidFill>
                <a:latin typeface="Calibri"/>
              </a:rPr>
              <a:t>SVM: 6 FP + 7 FN on 1,882-sample test set  ==&gt;  99.3% accuracy. RF: 15 FP + 9 FN  ==&gt;  98.7%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8"/>
                </a:solidFill>
                <a:latin typeface="Calibri"/>
              </a:rPr>
              <a:t>NIT Sikkim  |  Internship Documentation  |  TORGO Speech Classification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64592"/>
            <a:ext cx="1463040" cy="5029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Calibri"/>
              </a:rPr>
              <a:t>PHASE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09728"/>
            <a:ext cx="99943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2FF"/>
                </a:solidFill>
                <a:latin typeface="Calibri"/>
              </a:rPr>
              <a:t>Phase 5: Top 10 Feature Importances (Random Forest)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ourier New"/>
              </a:rPr>
              <a:t>rms_std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1517904"/>
            <a:ext cx="6858000" cy="2743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0" y="14630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D700"/>
                </a:solidFill>
                <a:latin typeface="Calibri"/>
              </a:rPr>
              <a:t>12.14%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ourier New"/>
              </a:rPr>
              <a:t>rms_mean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1975104"/>
            <a:ext cx="3197387" cy="2743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4987" y="1920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D700"/>
                </a:solidFill>
                <a:latin typeface="Calibri"/>
              </a:rPr>
              <a:t>5.66%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ourier New"/>
              </a:rPr>
              <a:t>spec_contrast_7_mean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0" y="2432304"/>
            <a:ext cx="2157953" cy="2743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15553" y="23774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D700"/>
                </a:solidFill>
                <a:latin typeface="Calibri"/>
              </a:rPr>
              <a:t>3.82%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2834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ourier New"/>
              </a:rPr>
              <a:t>mfcc_1_mean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66160" y="2889504"/>
            <a:ext cx="1666482" cy="2743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24082" y="28346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D700"/>
                </a:solidFill>
                <a:latin typeface="Calibri"/>
              </a:rPr>
              <a:t>2.95%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3291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ourier New"/>
              </a:rPr>
              <a:t>mfcc_delta_1_std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66160" y="3346704"/>
            <a:ext cx="1321887" cy="2743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79487" y="32918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D700"/>
                </a:solidFill>
                <a:latin typeface="Calibri"/>
              </a:rPr>
              <a:t>2.34%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37490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ourier New"/>
              </a:rPr>
              <a:t>spec_contrast_5_mean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66160" y="3803903"/>
            <a:ext cx="1231502" cy="2743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89102" y="374903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D700"/>
                </a:solidFill>
                <a:latin typeface="Calibri"/>
              </a:rPr>
              <a:t>2.18%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4206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ourier New"/>
              </a:rPr>
              <a:t>spec_contrast_1_std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66160" y="4261104"/>
            <a:ext cx="1062029" cy="2743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19629" y="4206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D700"/>
                </a:solidFill>
                <a:latin typeface="Calibri"/>
              </a:rPr>
              <a:t>1.88%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4663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ourier New"/>
              </a:rPr>
              <a:t>mfcc_12_mean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66160" y="4718304"/>
            <a:ext cx="932100" cy="2743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89700" y="46634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D700"/>
                </a:solidFill>
                <a:latin typeface="Calibri"/>
              </a:rPr>
              <a:t>1.65%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ourier New"/>
              </a:rPr>
              <a:t>mfcc_1_std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66160" y="5175504"/>
            <a:ext cx="886907" cy="2743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44507" y="51206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D700"/>
                </a:solidFill>
                <a:latin typeface="Calibri"/>
              </a:rPr>
              <a:t>1.57%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5577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ourier New"/>
              </a:rPr>
              <a:t>mfcc_9_mean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66160" y="5632704"/>
            <a:ext cx="886907" cy="2743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44507" y="55778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D700"/>
                </a:solidFill>
                <a:latin typeface="Calibri"/>
              </a:rPr>
              <a:t>1.57%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8"/>
                </a:solidFill>
                <a:latin typeface="Calibri"/>
              </a:rPr>
              <a:t>NIT Sikkim  |  Internship Documentation  |  TORGO Speech Classification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